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57535202ec43db" /><Relationship Type="http://schemas.openxmlformats.org/officeDocument/2006/relationships/extended-properties" Target="/docProps/app.xml" Id="R7600feb976c4428c" /><Relationship Type="http://schemas.openxmlformats.org/officeDocument/2006/relationships/officeDocument" Target="/ppt/presentation.xml" Id="Rdcb5ecae322341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9c2f26a75247cb"/>
  </p:sldMasterIdLst>
  <p:notesMasterIdLst>
    <p:notesMasterId xmlns:r="http://schemas.openxmlformats.org/officeDocument/2006/relationships" r:id="Raef91185217a4883"/>
  </p:notesMasterIdLst>
  <p:sldIdLst>
    <p:sldId xmlns:r="http://schemas.openxmlformats.org/officeDocument/2006/relationships" id="256" r:id="R175dca391be34a98"/>
    <p:sldId xmlns:r="http://schemas.openxmlformats.org/officeDocument/2006/relationships" id="257" r:id="R1b01041426ff42bb"/>
    <p:sldId xmlns:r="http://schemas.openxmlformats.org/officeDocument/2006/relationships" id="258" r:id="R0bc27265310446ef"/>
    <p:sldId xmlns:r="http://schemas.openxmlformats.org/officeDocument/2006/relationships" id="259" r:id="Re51853a91cab497c"/>
    <p:sldId xmlns:r="http://schemas.openxmlformats.org/officeDocument/2006/relationships" id="260" r:id="R7696d42331e940ca"/>
    <p:sldId xmlns:r="http://schemas.openxmlformats.org/officeDocument/2006/relationships" id="261" r:id="Re11337ac353e4e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4925082e3242a9" /><Relationship Type="http://schemas.openxmlformats.org/officeDocument/2006/relationships/slideMaster" Target="/ppt/slideMasters/slideMaster1.xml" Id="R019c2f26a75247cb" /><Relationship Type="http://schemas.openxmlformats.org/officeDocument/2006/relationships/notesMaster" Target="/ppt/notesMasters/notesMaster1.xml" Id="Raef91185217a4883" /><Relationship Type="http://schemas.openxmlformats.org/officeDocument/2006/relationships/presProps" Target="/ppt/presProps.xml" Id="Rebc454b39524484a" /><Relationship Type="http://schemas.openxmlformats.org/officeDocument/2006/relationships/tableStyles" Target="/ppt/tableStyles.xml" Id="Rcdc0b8bdc21041bf" /><Relationship Type="http://schemas.openxmlformats.org/officeDocument/2006/relationships/slide" Target="/ppt/slides/slide1.xml" Id="R175dca391be34a98" /><Relationship Type="http://schemas.openxmlformats.org/officeDocument/2006/relationships/slide" Target="/ppt/slides/slide2.xml" Id="R1b01041426ff42bb" /><Relationship Type="http://schemas.openxmlformats.org/officeDocument/2006/relationships/slide" Target="/ppt/slides/slide3.xml" Id="R0bc27265310446ef" /><Relationship Type="http://schemas.openxmlformats.org/officeDocument/2006/relationships/slide" Target="/ppt/slides/slide4.xml" Id="Re51853a91cab497c" /><Relationship Type="http://schemas.openxmlformats.org/officeDocument/2006/relationships/slide" Target="/ppt/slides/slide5.xml" Id="R7696d42331e940ca" /><Relationship Type="http://schemas.openxmlformats.org/officeDocument/2006/relationships/slide" Target="/ppt/slides/slide6.xml" Id="Re11337ac353e4e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cc3f6c3efa43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c8b499a8d24f49" /><Relationship Type="http://schemas.openxmlformats.org/officeDocument/2006/relationships/notesMaster" Target="/ppt/notesMasters/notesMaster1.xml" Id="R0b8a3361774e4c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9a7950880b49f2" /><Relationship Type="http://schemas.openxmlformats.org/officeDocument/2006/relationships/notesMaster" Target="/ppt/notesMasters/notesMaster1.xml" Id="R53e61ccae60649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18d2958d914e20" /><Relationship Type="http://schemas.openxmlformats.org/officeDocument/2006/relationships/notesMaster" Target="/ppt/notesMasters/notesMaster1.xml" Id="R9d87b476770c40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916a9e58e34f97" /><Relationship Type="http://schemas.openxmlformats.org/officeDocument/2006/relationships/notesMaster" Target="/ppt/notesMasters/notesMaster1.xml" Id="R928e95c4533e4e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ef93b283d34ded" /><Relationship Type="http://schemas.openxmlformats.org/officeDocument/2006/relationships/notesMaster" Target="/ppt/notesMasters/notesMaster1.xml" Id="Rb72a1918230e40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76ed6982fb4790" /><Relationship Type="http://schemas.openxmlformats.org/officeDocument/2006/relationships/notesMaster" Target="/ppt/notesMasters/notesMaster1.xml" Id="R63434fe2860a49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47278b77f048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fc9c62486945f8" /><Relationship Type="http://schemas.openxmlformats.org/officeDocument/2006/relationships/slideLayout" Target="/ppt/slideLayouts/slideLayout1.xml" Id="Rbc681ff179a649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681ff179a649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02f5c458148a9" /><Relationship Type="http://schemas.openxmlformats.org/officeDocument/2006/relationships/notesSlide" Target="/ppt/notesSlides/notesSlide1.xml" Id="R7d242b1a120744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fedaa4fba45a5" /><Relationship Type="http://schemas.openxmlformats.org/officeDocument/2006/relationships/notesSlide" Target="/ppt/notesSlides/notesSlide2.xml" Id="R867bca08b92149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bebd928844562" /><Relationship Type="http://schemas.openxmlformats.org/officeDocument/2006/relationships/image" Target="/ppt/media/image.png" Id="Rd9d3ebfa54434e08" /><Relationship Type="http://schemas.openxmlformats.org/officeDocument/2006/relationships/notesSlide" Target="/ppt/notesSlides/notesSlide3.xml" Id="Rd2415c8a38ef4f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98ca207384225" /><Relationship Type="http://schemas.openxmlformats.org/officeDocument/2006/relationships/notesSlide" Target="/ppt/notesSlides/notesSlide4.xml" Id="R9ad2ccdc3e9e43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6a06996f84497" /><Relationship Type="http://schemas.openxmlformats.org/officeDocument/2006/relationships/chart" Target="/ppt/slides/charts/chart1.xml" Id="Re4e4e8fc409a427f" /><Relationship Type="http://schemas.openxmlformats.org/officeDocument/2006/relationships/notesSlide" Target="/ppt/notesSlides/notesSlide5.xml" Id="R5046832944a342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b2281cc304a98" /><Relationship Type="http://schemas.openxmlformats.org/officeDocument/2006/relationships/notesSlide" Target="/ppt/notesSlides/notesSlide6.xml" Id="Re23edf725050424d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End-to-end seconds</c:v>
          </c:tx>
          <c:spPr>
            <a:solidFill xmlns:a="http://schemas.openxmlformats.org/drawingml/2006/main">
              <a:srgbClr val="3F756E"/>
            </a:solidFill>
          </c:spPr>
          <c:cat>
            <c:strLit>
              <c:ptCount val="2"/>
              <c:pt idx="0">
                <c:v>Three context workers</c:v>
              </c:pt>
              <c:pt idx="1">
                <c:v>Four context workers</c:v>
              </c:pt>
            </c:strLit>
          </c:cat>
          <c:val>
            <c:numLit>
              <c:formatCode>General</c:formatCode>
              <c:ptCount val="2"/>
              <c:pt idx="0">
                <c:v>222.31</c:v>
              </c:pt>
              <c:pt idx="1">
                <c:v>157.47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BECFC9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orbit">
            <a:extLst xmlns:a="http://schemas.openxmlformats.org/drawingml/2006/main">
              <a:ext uri="{FF2B5EF4-FFF2-40B4-BE49-F238E27FC236}">
                <a16:creationId xmlns:a16="http://schemas.microsoft.com/office/drawing/2014/main" id="{354AC2E7-0162-4747-B476-A0EB3C3A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4286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F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D6952567-6AF3-420A-AEC9-838A5BC0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800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780765E-93D1-4D89-95D6-84244A92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7620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SignalForge</a:t>
            </a:r>
          </a:p>
        </p:txBody>
      </p:sp>
      <p:sp>
        <p:nvSpPr>
          <p:cNvPr id="4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D3F49694-3E74-489A-BCE1-50C00F66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6953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DCEAE4"/>
                </a:solidFill>
              </a:defRPr>
            </a:pPr>
            <a:r>
              <a:rPr sz="2625" b="1">
                <a:solidFill>
                  <a:srgbClr val="DCEAE4"/>
                </a:solidFill>
              </a:rPr>
              <a:t>Local intelligence.</a:t>
            </a:r>
          </a:p>
          <a:p xmlns:a="http://schemas.openxmlformats.org/drawingml/2006/main">
            <a:pPr algn="l">
              <a:buNone/>
              <a:defRPr sz="2625" b="1">
                <a:solidFill>
                  <a:srgbClr val="DCEAE4"/>
                </a:solidFill>
              </a:defRPr>
            </a:pPr>
            <a:r>
              <a:rPr sz="2625" b="1">
                <a:solidFill>
                  <a:srgbClr val="DCEAE4"/>
                </a:solidFill>
              </a:rPr>
              <a:t>Deterministic financial truth.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F638A1C-12AB-4CF8-A2D6-532E2D87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BFD6D0"/>
                </a:solidFill>
              </a:defRPr>
            </a:pPr>
            <a:r>
              <a:rPr sz="1575" b="0">
                <a:solidFill>
                  <a:srgbClr val="BFD6D0"/>
                </a:solidFill>
              </a:rPr>
              <a:t>A private research desk built on AMD Radeon and ROCm</a:t>
            </a:r>
          </a:p>
        </p:txBody>
      </p:sp>
      <p:sp>
        <p:nvSpPr>
          <p:cNvPr id="6" name="cover-track">
            <a:extLst xmlns:a="http://schemas.openxmlformats.org/drawingml/2006/main">
              <a:ext uri="{FF2B5EF4-FFF2-40B4-BE49-F238E27FC236}">
                <a16:creationId xmlns:a16="http://schemas.microsoft.com/office/drawing/2014/main" id="{1DD28D6A-193B-4BB2-AA62-63B47BF8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EB3AB"/>
                </a:solidFill>
              </a:defRPr>
            </a:pPr>
            <a:r>
              <a:rPr sz="1050" b="0">
                <a:solidFill>
                  <a:srgbClr val="8EB3AB"/>
                </a:solidFill>
              </a:rPr>
              <a:t>AMD AI DevMaster Hackathon · Track 2: Agentic AI</a:t>
            </a:r>
          </a:p>
        </p:txBody>
      </p:sp>
      <p:sp>
        <p:nvSpPr>
          <p:cNvPr id="7" name="cover-chip">
            <a:extLst xmlns:a="http://schemas.openxmlformats.org/drawingml/2006/main">
              <a:ext uri="{FF2B5EF4-FFF2-40B4-BE49-F238E27FC236}">
                <a16:creationId xmlns:a16="http://schemas.microsoft.com/office/drawing/2014/main" id="{1B25FB10-58C0-42D6-8BD5-B4E21C14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95875"/>
            <a:ext cx="27622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0B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chip-text">
            <a:extLst xmlns:a="http://schemas.openxmlformats.org/drawingml/2006/main">
              <a:ext uri="{FF2B5EF4-FFF2-40B4-BE49-F238E27FC236}">
                <a16:creationId xmlns:a16="http://schemas.microsoft.com/office/drawing/2014/main" id="{19128F0C-644B-4E94-917C-8F0ECCF4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57800"/>
            <a:ext cx="2266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02C38"/>
                </a:solidFill>
              </a:defRPr>
            </a:pPr>
            <a:r>
              <a:rPr sz="1350" b="1">
                <a:solidFill>
                  <a:srgbClr val="102C38"/>
                </a:solidFill>
              </a:rPr>
              <a:t>No remote inference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02C38"/>
                </a:solidFill>
              </a:defRPr>
            </a:pPr>
            <a:r>
              <a:rPr sz="1350" b="1">
                <a:solidFill>
                  <a:srgbClr val="102C38"/>
                </a:solidFill>
              </a:rPr>
              <a:t>in the accepted golden path</a:t>
            </a:r>
          </a:p>
        </p:txBody>
      </p:sp>
    </p:spTree>
    <p:extLst>
      <p:ext uri="{BB962C8B-B14F-4D97-AF65-F5344CB8AC3E}">
        <p14:creationId xmlns:p14="http://schemas.microsoft.com/office/powerpoint/2010/main" val="14627922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2">
            <a:extLst xmlns:a="http://schemas.openxmlformats.org/drawingml/2006/main">
              <a:ext uri="{FF2B5EF4-FFF2-40B4-BE49-F238E27FC236}">
                <a16:creationId xmlns:a16="http://schemas.microsoft.com/office/drawing/2014/main" id="{7BB7ABBE-A863-43A0-A3B2-E33CEC3C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7936"/>
                </a:solidFill>
              </a:defRPr>
            </a:pPr>
            <a:r>
              <a:rPr sz="975" b="1">
                <a:solidFill>
                  <a:srgbClr val="C97936"/>
                </a:solidFill>
              </a:rPr>
              <a:t>THE PRODUCT DECISION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915D52A5-D690-4B32-BD39-5787135A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C38"/>
                </a:solidFill>
              </a:defRPr>
            </a:pPr>
            <a:r>
              <a:rPr sz="3000" b="1">
                <a:solidFill>
                  <a:srgbClr val="102C38"/>
                </a:solidFill>
              </a:rPr>
              <a:t>A serious investor needs a process, not another answer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49D08CFD-5928-43BB-9954-E573FC83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C63E026D-544C-43E7-90B1-B4112243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A7D80"/>
                </a:solidFill>
              </a:defRPr>
            </a:pPr>
            <a:r>
              <a:rPr sz="825" b="0">
                <a:solidFill>
                  <a:srgbClr val="6A7D80"/>
                </a:solidFill>
              </a:rPr>
              <a:t>SignalForge · AMD AI DevMaster Hackathon · Track 2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A5CE51AD-F468-432F-9CE6-392AEEFF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A7D80"/>
                </a:solidFill>
              </a:defRPr>
            </a:pPr>
            <a:r>
              <a:rPr sz="825" b="0">
                <a:solidFill>
                  <a:srgbClr val="6A7D80"/>
                </a:solidFill>
              </a:rPr>
              <a:t>02</a:t>
            </a:r>
          </a:p>
        </p:txBody>
      </p:sp>
      <p:sp>
        <p:nvSpPr>
          <p:cNvPr id="6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D911C25C-C211-4F9C-8109-9140D94E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333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C38"/>
                </a:solidFill>
              </a:defRPr>
            </a:pPr>
            <a:r>
              <a:rPr sz="2400" b="1">
                <a:solidFill>
                  <a:srgbClr val="102C38"/>
                </a:solidFill>
              </a:rPr>
              <a:t>Public information is abundant.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102C38"/>
                </a:solidFill>
              </a:defRPr>
            </a:pPr>
            <a:r>
              <a:rPr sz="2400" b="1">
                <a:solidFill>
                  <a:srgbClr val="102C38"/>
                </a:solidFill>
              </a:rPr>
              <a:t>Evidence discipline is not.</a:t>
            </a:r>
          </a:p>
        </p:txBody>
      </p:sp>
      <p:sp>
        <p:nvSpPr>
          <p:cNvPr id="7" name="problem-detail">
            <a:extLst xmlns:a="http://schemas.openxmlformats.org/drawingml/2006/main">
              <a:ext uri="{FF2B5EF4-FFF2-40B4-BE49-F238E27FC236}">
                <a16:creationId xmlns:a16="http://schemas.microsoft.com/office/drawing/2014/main" id="{87E829DA-1BF4-4DC9-8F51-FF07EBCB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333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34B52"/>
                </a:solidFill>
              </a:defRPr>
            </a:pPr>
            <a:r>
              <a:rPr sz="1425" b="0">
                <a:solidFill>
                  <a:srgbClr val="334B52"/>
                </a:solidFill>
              </a:rPr>
              <a:t>SignalForge turns filings, investor-relations material, macro series, and market observations into a research case the user can inspect and challenge.</a:t>
            </a:r>
          </a:p>
        </p:txBody>
      </p:sp>
      <p:sp>
        <p:nvSpPr>
          <p:cNvPr id="8" name="value-band">
            <a:extLst xmlns:a="http://schemas.openxmlformats.org/drawingml/2006/main">
              <a:ext uri="{FF2B5EF4-FFF2-40B4-BE49-F238E27FC236}">
                <a16:creationId xmlns:a16="http://schemas.microsoft.com/office/drawing/2014/main" id="{AA38ECBE-4D06-430D-AD43-4206A496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695450"/>
            <a:ext cx="586740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BECFC9"/>
            </a:solidFill>
            <a:prstDash val="solid"/>
          </a:ln>
        </p:spPr>
      </p:sp>
      <p:sp>
        <p:nvSpPr>
          <p:cNvPr id="9" name="outcome-label-0">
            <a:extLst xmlns:a="http://schemas.openxmlformats.org/drawingml/2006/main">
              <a:ext uri="{FF2B5EF4-FFF2-40B4-BE49-F238E27FC236}">
                <a16:creationId xmlns:a16="http://schemas.microsoft.com/office/drawing/2014/main" id="{BD9D6EE4-F39A-4090-B18A-240C6B35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431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7936"/>
                </a:solidFill>
              </a:defRPr>
            </a:pPr>
            <a:r>
              <a:rPr sz="1050" b="1">
                <a:solidFill>
                  <a:srgbClr val="C97936"/>
                </a:solidFill>
              </a:rPr>
              <a:t>UNDERSTAND</a:t>
            </a:r>
          </a:p>
        </p:txBody>
      </p:sp>
      <p:sp>
        <p:nvSpPr>
          <p:cNvPr id="10" name="outcome-copy-0">
            <a:extLst xmlns:a="http://schemas.openxmlformats.org/drawingml/2006/main">
              <a:ext uri="{FF2B5EF4-FFF2-40B4-BE49-F238E27FC236}">
                <a16:creationId xmlns:a16="http://schemas.microsoft.com/office/drawing/2014/main" id="{23782588-290C-4E62-87C9-9B6E4B2A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24050"/>
            <a:ext cx="3752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C38"/>
                </a:solidFill>
              </a:defRPr>
            </a:pPr>
            <a:r>
              <a:rPr sz="1500" b="1">
                <a:solidFill>
                  <a:srgbClr val="102C38"/>
                </a:solidFill>
              </a:rPr>
              <a:t>Business model and financial quality</a:t>
            </a:r>
          </a:p>
        </p:txBody>
      </p:sp>
      <p:sp>
        <p:nvSpPr>
          <p:cNvPr id="11" name="outcome-rule-0">
            <a:extLst xmlns:a="http://schemas.openxmlformats.org/drawingml/2006/main">
              <a:ext uri="{FF2B5EF4-FFF2-40B4-BE49-F238E27FC236}">
                <a16:creationId xmlns:a16="http://schemas.microsoft.com/office/drawing/2014/main" id="{17AA3D83-AB10-4455-A9A6-6232D6CA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19350"/>
            <a:ext cx="516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outcome-label-1">
            <a:extLst xmlns:a="http://schemas.openxmlformats.org/drawingml/2006/main">
              <a:ext uri="{FF2B5EF4-FFF2-40B4-BE49-F238E27FC236}">
                <a16:creationId xmlns:a16="http://schemas.microsoft.com/office/drawing/2014/main" id="{3A75C808-0370-4F34-9625-CF9BB4C6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241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7936"/>
                </a:solidFill>
              </a:defRPr>
            </a:pPr>
            <a:r>
              <a:rPr sz="1050" b="1">
                <a:solidFill>
                  <a:srgbClr val="C97936"/>
                </a:solidFill>
              </a:rPr>
              <a:t>CONNECT</a:t>
            </a:r>
          </a:p>
        </p:txBody>
      </p:sp>
      <p:sp>
        <p:nvSpPr>
          <p:cNvPr id="13" name="outcome-copy-1">
            <a:extLst xmlns:a="http://schemas.openxmlformats.org/drawingml/2006/main">
              <a:ext uri="{FF2B5EF4-FFF2-40B4-BE49-F238E27FC236}">
                <a16:creationId xmlns:a16="http://schemas.microsoft.com/office/drawing/2014/main" id="{05D353E4-C852-47C1-95A1-B896026C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05100"/>
            <a:ext cx="3752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C38"/>
                </a:solidFill>
              </a:defRPr>
            </a:pPr>
            <a:r>
              <a:rPr sz="1500" b="1">
                <a:solidFill>
                  <a:srgbClr val="102C38"/>
                </a:solidFill>
              </a:rPr>
              <a:t>Economic variables through explicit mechanisms</a:t>
            </a:r>
          </a:p>
        </p:txBody>
      </p:sp>
      <p:sp>
        <p:nvSpPr>
          <p:cNvPr id="14" name="outcome-rule-1">
            <a:extLst xmlns:a="http://schemas.openxmlformats.org/drawingml/2006/main">
              <a:ext uri="{FF2B5EF4-FFF2-40B4-BE49-F238E27FC236}">
                <a16:creationId xmlns:a16="http://schemas.microsoft.com/office/drawing/2014/main" id="{17A534A2-22A1-4451-9239-34955A88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00400"/>
            <a:ext cx="516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outcome-label-2">
            <a:extLst xmlns:a="http://schemas.openxmlformats.org/drawingml/2006/main">
              <a:ext uri="{FF2B5EF4-FFF2-40B4-BE49-F238E27FC236}">
                <a16:creationId xmlns:a16="http://schemas.microsoft.com/office/drawing/2014/main" id="{FA966D4B-EDE5-46F5-B086-8FE63929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052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7936"/>
                </a:solidFill>
              </a:defRPr>
            </a:pPr>
            <a:r>
              <a:rPr sz="1050" b="1">
                <a:solidFill>
                  <a:srgbClr val="C97936"/>
                </a:solidFill>
              </a:rPr>
              <a:t>VALUE</a:t>
            </a:r>
          </a:p>
        </p:txBody>
      </p:sp>
      <p:sp>
        <p:nvSpPr>
          <p:cNvPr id="16" name="outcome-copy-2">
            <a:extLst xmlns:a="http://schemas.openxmlformats.org/drawingml/2006/main">
              <a:ext uri="{FF2B5EF4-FFF2-40B4-BE49-F238E27FC236}">
                <a16:creationId xmlns:a16="http://schemas.microsoft.com/office/drawing/2014/main" id="{381FC484-ADCC-4CD6-B67C-3F1B663A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86150"/>
            <a:ext cx="3752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C38"/>
                </a:solidFill>
              </a:defRPr>
            </a:pPr>
            <a:r>
              <a:rPr sz="1500" b="1">
                <a:solidFill>
                  <a:srgbClr val="102C38"/>
                </a:solidFill>
              </a:rPr>
              <a:t>DCF, multiples, sensitivity, and assumptions</a:t>
            </a:r>
          </a:p>
        </p:txBody>
      </p:sp>
      <p:sp>
        <p:nvSpPr>
          <p:cNvPr id="17" name="outcome-rule-2">
            <a:extLst xmlns:a="http://schemas.openxmlformats.org/drawingml/2006/main">
              <a:ext uri="{FF2B5EF4-FFF2-40B4-BE49-F238E27FC236}">
                <a16:creationId xmlns:a16="http://schemas.microsoft.com/office/drawing/2014/main" id="{0CC507A1-2B99-4EDC-A619-875C3DAF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81450"/>
            <a:ext cx="5162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utcome-label-3">
            <a:extLst xmlns:a="http://schemas.openxmlformats.org/drawingml/2006/main">
              <a:ext uri="{FF2B5EF4-FFF2-40B4-BE49-F238E27FC236}">
                <a16:creationId xmlns:a16="http://schemas.microsoft.com/office/drawing/2014/main" id="{0C376A64-46B2-4C6C-8F8B-CACB7F4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862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97936"/>
                </a:solidFill>
              </a:defRPr>
            </a:pPr>
            <a:r>
              <a:rPr sz="1050" b="1">
                <a:solidFill>
                  <a:srgbClr val="C97936"/>
                </a:solidFill>
              </a:rPr>
              <a:t>CHALLENGE</a:t>
            </a:r>
          </a:p>
        </p:txBody>
      </p:sp>
      <p:sp>
        <p:nvSpPr>
          <p:cNvPr id="19" name="outcome-copy-3">
            <a:extLst xmlns:a="http://schemas.openxmlformats.org/drawingml/2006/main">
              <a:ext uri="{FF2B5EF4-FFF2-40B4-BE49-F238E27FC236}">
                <a16:creationId xmlns:a16="http://schemas.microsoft.com/office/drawing/2014/main" id="{F064DE8B-B2CF-4B56-BD72-90FF30B4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67200"/>
            <a:ext cx="3752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02C38"/>
                </a:solidFill>
              </a:defRPr>
            </a:pPr>
            <a:r>
              <a:rPr sz="1500" b="1">
                <a:solidFill>
                  <a:srgbClr val="102C38"/>
                </a:solidFill>
              </a:rPr>
              <a:t>Counterevidence and thesis invalidation</a:t>
            </a:r>
          </a:p>
        </p:txBody>
      </p:sp>
      <p:sp>
        <p:nvSpPr>
          <p:cNvPr id="20" name="responsible-boundary">
            <a:extLst xmlns:a="http://schemas.openxmlformats.org/drawingml/2006/main">
              <a:ext uri="{FF2B5EF4-FFF2-40B4-BE49-F238E27FC236}">
                <a16:creationId xmlns:a16="http://schemas.microsoft.com/office/drawing/2014/main" id="{ECC71FA3-49D8-4A8C-AF07-50DC0ABA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F756E"/>
                </a:solidFill>
              </a:defRPr>
            </a:pPr>
            <a:r>
              <a:rPr sz="1200" b="1">
                <a:solidFill>
                  <a:srgbClr val="3F756E"/>
                </a:solidFill>
              </a:rPr>
              <a:t>No price prediction · No trade execution · No personalized investment instruction</a:t>
            </a:r>
          </a:p>
        </p:txBody>
      </p:sp>
    </p:spTree>
    <p:extLst>
      <p:ext uri="{BB962C8B-B14F-4D97-AF65-F5344CB8AC3E}">
        <p14:creationId xmlns:p14="http://schemas.microsoft.com/office/powerpoint/2010/main" val="4659855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3">
            <a:extLst xmlns:a="http://schemas.openxmlformats.org/drawingml/2006/main">
              <a:ext uri="{FF2B5EF4-FFF2-40B4-BE49-F238E27FC236}">
                <a16:creationId xmlns:a16="http://schemas.microsoft.com/office/drawing/2014/main" id="{73C31A2F-4697-4FE1-84D9-635F3AEC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7936"/>
                </a:solidFill>
              </a:defRPr>
            </a:pPr>
            <a:r>
              <a:rPr sz="975" b="1">
                <a:solidFill>
                  <a:srgbClr val="C97936"/>
                </a:solidFill>
              </a:rPr>
              <a:t>THE AUTHORITY MODEL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C4D8EDD0-D921-4642-A6D4-370F56C4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C38"/>
                </a:solidFill>
              </a:defRPr>
            </a:pPr>
            <a:r>
              <a:rPr sz="3000" b="1">
                <a:solidFill>
                  <a:srgbClr val="102C38"/>
                </a:solidFill>
              </a:rPr>
              <a:t>Models interpret; software owns financial truth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E866A366-A4FC-4D50-B29C-D20DE268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F6EBD875-8FEE-47D9-B997-61AA0C9F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A7D80"/>
                </a:solidFill>
              </a:defRPr>
            </a:pPr>
            <a:r>
              <a:rPr sz="825" b="0">
                <a:solidFill>
                  <a:srgbClr val="6A7D80"/>
                </a:solidFill>
              </a:rPr>
              <a:t>SignalForge · AMD AI DevMaster Hackathon · Track 2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C4B7056F-5AAE-4E24-A52B-AA03C328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A7D80"/>
                </a:solidFill>
              </a:defRPr>
            </a:pPr>
            <a:r>
              <a:rPr sz="825" b="0">
                <a:solidFill>
                  <a:srgbClr val="6A7D80"/>
                </a:solidFill>
              </a:rPr>
              <a:t>03</a:t>
            </a:r>
          </a:p>
        </p:txBody>
      </p:sp>
      <p:sp>
        <p:nvSpPr>
          <p:cNvPr id="6" name="architecture-eyebrow-repair">
            <a:extLst xmlns:a="http://schemas.openxmlformats.org/drawingml/2006/main">
              <a:ext uri="{FF2B5EF4-FFF2-40B4-BE49-F238E27FC236}">
                <a16:creationId xmlns:a16="http://schemas.microsoft.com/office/drawing/2014/main" id="{AF034FDC-D514-4D17-B4C9-405B2A80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chitecture-eyebrow-final">
            <a:extLst xmlns:a="http://schemas.openxmlformats.org/drawingml/2006/main">
              <a:ext uri="{FF2B5EF4-FFF2-40B4-BE49-F238E27FC236}">
                <a16:creationId xmlns:a16="http://schemas.microsoft.com/office/drawing/2014/main" id="{B0F1B342-B82D-4DEA-A42A-ECE3A787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7936"/>
                </a:solidFill>
              </a:defRPr>
            </a:pPr>
            <a:r>
              <a:rPr sz="975" b="1">
                <a:solidFill>
                  <a:srgbClr val="C97936"/>
                </a:solidFill>
              </a:rPr>
              <a:t>THE AUTHORITY MODEL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3ebfa54434e08"/>
          <a:stretch xmlns:a="http://schemas.openxmlformats.org/drawingml/2006/main"/>
        </p:blipFill>
        <p:spPr>
          <a:xfrm xmlns:a="http://schemas.openxmlformats.org/drawingml/2006/main">
            <a:off x="2499360" y="1504950"/>
            <a:ext cx="7193280" cy="4495800"/>
          </a:xfrm>
          <a:prstGeom xmlns:a="http://schemas.openxmlformats.org/drawingml/2006/main" prst="rect">
            <a:avLst/>
          </a:prstGeom>
        </p:spPr>
      </p:pic>
      <p:sp>
        <p:nvSpPr>
          <p:cNvPr id="9" name="architecture-takeaway">
            <a:extLst xmlns:a="http://schemas.openxmlformats.org/drawingml/2006/main">
              <a:ext uri="{FF2B5EF4-FFF2-40B4-BE49-F238E27FC236}">
                <a16:creationId xmlns:a16="http://schemas.microsoft.com/office/drawing/2014/main" id="{C00647F6-88A2-41F6-992B-85A12C93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436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F756E"/>
                </a:solidFill>
              </a:defRPr>
            </a:pPr>
            <a:r>
              <a:rPr sz="1200" b="1">
                <a:solidFill>
                  <a:srgbClr val="3F756E"/>
                </a:solidFill>
              </a:rPr>
              <a:t>One local model runtime supports specialist roles; Go controls values, tools, evidence, lineage, and publication.</a:t>
            </a:r>
          </a:p>
        </p:txBody>
      </p:sp>
    </p:spTree>
    <p:extLst>
      <p:ext uri="{BB962C8B-B14F-4D97-AF65-F5344CB8AC3E}">
        <p14:creationId xmlns:p14="http://schemas.microsoft.com/office/powerpoint/2010/main" val="11063623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yebrow-4">
            <a:extLst xmlns:a="http://schemas.openxmlformats.org/drawingml/2006/main">
              <a:ext uri="{FF2B5EF4-FFF2-40B4-BE49-F238E27FC236}">
                <a16:creationId xmlns:a16="http://schemas.microsoft.com/office/drawing/2014/main" id="{8DBB0913-C02C-4EC0-BC34-C33B1560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7936"/>
                </a:solidFill>
              </a:defRPr>
            </a:pPr>
            <a:r>
              <a:rPr sz="975" b="1">
                <a:solidFill>
                  <a:srgbClr val="C97936"/>
                </a:solidFill>
              </a:rPr>
              <a:t>AGENT COMPLETENESS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CA9AE8B-7AA6-4773-9495-3097ACF6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C38"/>
                </a:solidFill>
              </a:defRPr>
            </a:pPr>
            <a:r>
              <a:rPr sz="3000" b="1">
                <a:solidFill>
                  <a:srgbClr val="102C38"/>
                </a:solidFill>
              </a:rPr>
              <a:t>All five Track 2 capabilities are visible in one journey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E11F347A-12C4-405D-A65C-3B6F87AD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15F64FE7-B7EC-40EA-A159-4D10523F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A7D80"/>
                </a:solidFill>
              </a:defRPr>
            </a:pPr>
            <a:r>
              <a:rPr sz="825" b="0">
                <a:solidFill>
                  <a:srgbClr val="6A7D80"/>
                </a:solidFill>
              </a:rPr>
              <a:t>SignalForge · AMD AI DevMaster Hackathon · Track 2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D9022039-BB87-4C8D-A16D-570E95CA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A7D80"/>
                </a:solidFill>
              </a:defRPr>
            </a:pPr>
            <a:r>
              <a:rPr sz="825" b="0">
                <a:solidFill>
                  <a:srgbClr val="6A7D80"/>
                </a:solidFill>
              </a:rPr>
              <a:t>04</a:t>
            </a:r>
          </a:p>
        </p:txBody>
      </p:sp>
      <p:sp>
        <p:nvSpPr>
          <p:cNvPr id="6" name="cap-num-0">
            <a:extLst xmlns:a="http://schemas.openxmlformats.org/drawingml/2006/main">
              <a:ext uri="{FF2B5EF4-FFF2-40B4-BE49-F238E27FC236}">
                <a16:creationId xmlns:a16="http://schemas.microsoft.com/office/drawing/2014/main" id="{E26870A2-ED9F-4E7D-BF54-77241E10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p-num-text-0">
            <a:extLst xmlns:a="http://schemas.openxmlformats.org/drawingml/2006/main">
              <a:ext uri="{FF2B5EF4-FFF2-40B4-BE49-F238E27FC236}">
                <a16:creationId xmlns:a16="http://schemas.microsoft.com/office/drawing/2014/main" id="{919FBFAB-E006-470D-8380-57F49DA1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cap-label-0">
            <a:extLst xmlns:a="http://schemas.openxmlformats.org/drawingml/2006/main">
              <a:ext uri="{FF2B5EF4-FFF2-40B4-BE49-F238E27FC236}">
                <a16:creationId xmlns:a16="http://schemas.microsoft.com/office/drawing/2014/main" id="{9616CFF8-8323-40B1-893C-E88AC1E8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581150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C38"/>
                </a:solidFill>
              </a:defRPr>
            </a:pPr>
            <a:r>
              <a:rPr sz="1650" b="1">
                <a:solidFill>
                  <a:srgbClr val="102C38"/>
                </a:solidFill>
              </a:rPr>
              <a:t>Local retrieval</a:t>
            </a:r>
          </a:p>
        </p:txBody>
      </p:sp>
      <p:sp>
        <p:nvSpPr>
          <p:cNvPr id="9" name="cap-detail-0">
            <a:extLst xmlns:a="http://schemas.openxmlformats.org/drawingml/2006/main">
              <a:ext uri="{FF2B5EF4-FFF2-40B4-BE49-F238E27FC236}">
                <a16:creationId xmlns:a16="http://schemas.microsoft.com/office/drawing/2014/main" id="{6ABD044D-573D-40F9-926A-DA0ADB11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66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Point-in-time primary evidence with citations</a:t>
            </a:r>
          </a:p>
        </p:txBody>
      </p:sp>
      <p:sp>
        <p:nvSpPr>
          <p:cNvPr id="10" name="cap-num-1">
            <a:extLst xmlns:a="http://schemas.openxmlformats.org/drawingml/2006/main">
              <a:ext uri="{FF2B5EF4-FFF2-40B4-BE49-F238E27FC236}">
                <a16:creationId xmlns:a16="http://schemas.microsoft.com/office/drawing/2014/main" id="{78334A7C-C4FC-4E9A-A8F4-B44F84B5C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p-num-text-1">
            <a:extLst xmlns:a="http://schemas.openxmlformats.org/drawingml/2006/main">
              <a:ext uri="{FF2B5EF4-FFF2-40B4-BE49-F238E27FC236}">
                <a16:creationId xmlns:a16="http://schemas.microsoft.com/office/drawing/2014/main" id="{4C773107-3278-445F-A068-D9F357BA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cap-label-1">
            <a:extLst xmlns:a="http://schemas.openxmlformats.org/drawingml/2006/main">
              <a:ext uri="{FF2B5EF4-FFF2-40B4-BE49-F238E27FC236}">
                <a16:creationId xmlns:a16="http://schemas.microsoft.com/office/drawing/2014/main" id="{8ECE8B8B-2E6E-48D5-B4A6-7EDA8DCD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62200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C38"/>
                </a:solidFill>
              </a:defRPr>
            </a:pPr>
            <a:r>
              <a:rPr sz="1650" b="1">
                <a:solidFill>
                  <a:srgbClr val="102C38"/>
                </a:solidFill>
              </a:rPr>
              <a:t>Tool invocation</a:t>
            </a:r>
          </a:p>
        </p:txBody>
      </p:sp>
      <p:sp>
        <p:nvSpPr>
          <p:cNvPr id="13" name="cap-detail-1">
            <a:extLst xmlns:a="http://schemas.openxmlformats.org/drawingml/2006/main">
              <a:ext uri="{FF2B5EF4-FFF2-40B4-BE49-F238E27FC236}">
                <a16:creationId xmlns:a16="http://schemas.microsoft.com/office/drawing/2014/main" id="{D70398E2-6A1E-4065-8C0B-CEBFF44E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479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80 role-authorized deterministic operations</a:t>
            </a:r>
          </a:p>
        </p:txBody>
      </p:sp>
      <p:sp>
        <p:nvSpPr>
          <p:cNvPr id="14" name="cap-num-2">
            <a:extLst xmlns:a="http://schemas.openxmlformats.org/drawingml/2006/main">
              <a:ext uri="{FF2B5EF4-FFF2-40B4-BE49-F238E27FC236}">
                <a16:creationId xmlns:a16="http://schemas.microsoft.com/office/drawing/2014/main" id="{BC112F19-E150-4524-8EA6-EE6A48F8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p-num-text-2">
            <a:extLst xmlns:a="http://schemas.openxmlformats.org/drawingml/2006/main">
              <a:ext uri="{FF2B5EF4-FFF2-40B4-BE49-F238E27FC236}">
                <a16:creationId xmlns:a16="http://schemas.microsoft.com/office/drawing/2014/main" id="{5AA4E95A-35EA-4686-AD33-5F65D60C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cap-label-2">
            <a:extLst xmlns:a="http://schemas.openxmlformats.org/drawingml/2006/main">
              <a:ext uri="{FF2B5EF4-FFF2-40B4-BE49-F238E27FC236}">
                <a16:creationId xmlns:a16="http://schemas.microsoft.com/office/drawing/2014/main" id="{E05BCF02-47DA-4030-B14B-AF7DADEC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143250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C38"/>
                </a:solidFill>
              </a:defRPr>
            </a:pPr>
            <a:r>
              <a:rPr sz="1650" b="1">
                <a:solidFill>
                  <a:srgbClr val="102C38"/>
                </a:solidFill>
              </a:rPr>
              <a:t>Multi-step planning</a:t>
            </a:r>
          </a:p>
        </p:txBody>
      </p:sp>
      <p:sp>
        <p:nvSpPr>
          <p:cNvPr id="17" name="cap-detail-2">
            <a:extLst xmlns:a="http://schemas.openxmlformats.org/drawingml/2006/main">
              <a:ext uri="{FF2B5EF4-FFF2-40B4-BE49-F238E27FC236}">
                <a16:creationId xmlns:a16="http://schemas.microsoft.com/office/drawing/2014/main" id="{5C7C2923-2614-4870-8ECD-8934A439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290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Typed fan-out, two critics, one synthesizer</a:t>
            </a:r>
          </a:p>
        </p:txBody>
      </p:sp>
      <p:sp>
        <p:nvSpPr>
          <p:cNvPr id="18" name="cap-num-3">
            <a:extLst xmlns:a="http://schemas.openxmlformats.org/drawingml/2006/main">
              <a:ext uri="{FF2B5EF4-FFF2-40B4-BE49-F238E27FC236}">
                <a16:creationId xmlns:a16="http://schemas.microsoft.com/office/drawing/2014/main" id="{E3619540-E349-4BA7-96E4-A73C8D25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7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ap-num-text-3">
            <a:extLst xmlns:a="http://schemas.openxmlformats.org/drawingml/2006/main">
              <a:ext uri="{FF2B5EF4-FFF2-40B4-BE49-F238E27FC236}">
                <a16:creationId xmlns:a16="http://schemas.microsoft.com/office/drawing/2014/main" id="{BC8F884C-7142-459C-88A8-CC3761D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cap-label-3">
            <a:extLst xmlns:a="http://schemas.openxmlformats.org/drawingml/2006/main">
              <a:ext uri="{FF2B5EF4-FFF2-40B4-BE49-F238E27FC236}">
                <a16:creationId xmlns:a16="http://schemas.microsoft.com/office/drawing/2014/main" id="{207C5928-A553-4840-AF1A-F0D5C88B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24300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C38"/>
                </a:solidFill>
              </a:defRPr>
            </a:pPr>
            <a:r>
              <a:rPr sz="1650" b="1">
                <a:solidFill>
                  <a:srgbClr val="102C38"/>
                </a:solidFill>
              </a:rPr>
              <a:t>Local memory</a:t>
            </a:r>
          </a:p>
        </p:txBody>
      </p:sp>
      <p:sp>
        <p:nvSpPr>
          <p:cNvPr id="21" name="cap-detail-3">
            <a:extLst xmlns:a="http://schemas.openxmlformats.org/drawingml/2006/main">
              <a:ext uri="{FF2B5EF4-FFF2-40B4-BE49-F238E27FC236}">
                <a16:creationId xmlns:a16="http://schemas.microsoft.com/office/drawing/2014/main" id="{2691E146-1AA9-475D-BD71-B3E8D19B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100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Governed follow-ups and opt-in case retention</a:t>
            </a:r>
          </a:p>
        </p:txBody>
      </p:sp>
      <p:sp>
        <p:nvSpPr>
          <p:cNvPr id="22" name="cap-num-4">
            <a:extLst xmlns:a="http://schemas.openxmlformats.org/drawingml/2006/main">
              <a:ext uri="{FF2B5EF4-FFF2-40B4-BE49-F238E27FC236}">
                <a16:creationId xmlns:a16="http://schemas.microsoft.com/office/drawing/2014/main" id="{609A545A-CEF3-4742-AD05-92013F49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79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ap-num-text-4">
            <a:extLst xmlns:a="http://schemas.openxmlformats.org/drawingml/2006/main">
              <a:ext uri="{FF2B5EF4-FFF2-40B4-BE49-F238E27FC236}">
                <a16:creationId xmlns:a16="http://schemas.microsoft.com/office/drawing/2014/main" id="{4CC59192-0C71-4995-9D39-0677E77D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cap-label-4">
            <a:extLst xmlns:a="http://schemas.openxmlformats.org/drawingml/2006/main">
              <a:ext uri="{FF2B5EF4-FFF2-40B4-BE49-F238E27FC236}">
                <a16:creationId xmlns:a16="http://schemas.microsoft.com/office/drawing/2014/main" id="{42CA12B3-03FB-4E4D-BA35-1CDE2537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05350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C38"/>
                </a:solidFill>
              </a:defRPr>
            </a:pPr>
            <a:r>
              <a:rPr sz="1650" b="1">
                <a:solidFill>
                  <a:srgbClr val="102C38"/>
                </a:solidFill>
              </a:rPr>
              <a:t>Permission + privacy</a:t>
            </a:r>
          </a:p>
        </p:txBody>
      </p:sp>
      <p:sp>
        <p:nvSpPr>
          <p:cNvPr id="25" name="cap-detail-4">
            <a:extLst xmlns:a="http://schemas.openxmlformats.org/drawingml/2006/main">
              <a:ext uri="{FF2B5EF4-FFF2-40B4-BE49-F238E27FC236}">
                <a16:creationId xmlns:a16="http://schemas.microsoft.com/office/drawing/2014/main" id="{2414250B-84F2-471E-807B-AD52DD68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911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Read-only model authority and safe projection</a:t>
            </a:r>
          </a:p>
        </p:txBody>
      </p:sp>
      <p:sp>
        <p:nvSpPr>
          <p:cNvPr id="26" name="roles-panel">
            <a:extLst xmlns:a="http://schemas.openxmlformats.org/drawingml/2006/main">
              <a:ext uri="{FF2B5EF4-FFF2-40B4-BE49-F238E27FC236}">
                <a16:creationId xmlns:a16="http://schemas.microsoft.com/office/drawing/2014/main" id="{53C492B4-C1DB-4C8F-8029-46A2DCDA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95450"/>
            <a:ext cx="22098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BECFC9"/>
            </a:solidFill>
            <a:prstDash val="solid"/>
          </a:ln>
        </p:spPr>
      </p:sp>
      <p:sp>
        <p:nvSpPr>
          <p:cNvPr id="27" name="roles-accent">
            <a:extLst xmlns:a="http://schemas.openxmlformats.org/drawingml/2006/main">
              <a:ext uri="{FF2B5EF4-FFF2-40B4-BE49-F238E27FC236}">
                <a16:creationId xmlns:a16="http://schemas.microsoft.com/office/drawing/2014/main" id="{ED3062E7-E4D4-46CC-81F8-F731C613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954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oles-value">
            <a:extLst xmlns:a="http://schemas.openxmlformats.org/drawingml/2006/main">
              <a:ext uri="{FF2B5EF4-FFF2-40B4-BE49-F238E27FC236}">
                <a16:creationId xmlns:a16="http://schemas.microsoft.com/office/drawing/2014/main" id="{AE0863C6-0240-47CE-92BA-51664AC5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478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C38"/>
                </a:solidFill>
              </a:defRPr>
            </a:pPr>
            <a:r>
              <a:rPr sz="2400" b="1">
                <a:solidFill>
                  <a:srgbClr val="102C38"/>
                </a:solidFill>
              </a:rPr>
              <a:t>11</a:t>
            </a:r>
          </a:p>
        </p:txBody>
      </p:sp>
      <p:sp>
        <p:nvSpPr>
          <p:cNvPr id="29" name="roles-label">
            <a:extLst xmlns:a="http://schemas.openxmlformats.org/drawingml/2006/main">
              <a:ext uri="{FF2B5EF4-FFF2-40B4-BE49-F238E27FC236}">
                <a16:creationId xmlns:a16="http://schemas.microsoft.com/office/drawing/2014/main" id="{5B9F2204-F34D-4314-860E-4CF8689D5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24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logical roles</a:t>
            </a:r>
          </a:p>
        </p:txBody>
      </p:sp>
      <p:sp>
        <p:nvSpPr>
          <p:cNvPr id="30" name="tools-panel">
            <a:extLst xmlns:a="http://schemas.openxmlformats.org/drawingml/2006/main">
              <a:ext uri="{FF2B5EF4-FFF2-40B4-BE49-F238E27FC236}">
                <a16:creationId xmlns:a16="http://schemas.microsoft.com/office/drawing/2014/main" id="{C3F08952-1EC3-4216-B33C-80E9F103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22098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BECFC9"/>
            </a:solidFill>
            <a:prstDash val="solid"/>
          </a:ln>
        </p:spPr>
      </p:sp>
      <p:sp>
        <p:nvSpPr>
          <p:cNvPr id="31" name="tools-accent">
            <a:extLst xmlns:a="http://schemas.openxmlformats.org/drawingml/2006/main">
              <a:ext uri="{FF2B5EF4-FFF2-40B4-BE49-F238E27FC236}">
                <a16:creationId xmlns:a16="http://schemas.microsoft.com/office/drawing/2014/main" id="{71EBCF70-5C02-4589-9984-266A27ED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954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ools-value">
            <a:extLst xmlns:a="http://schemas.openxmlformats.org/drawingml/2006/main">
              <a:ext uri="{FF2B5EF4-FFF2-40B4-BE49-F238E27FC236}">
                <a16:creationId xmlns:a16="http://schemas.microsoft.com/office/drawing/2014/main" id="{6DFA30BC-6FB2-4B4C-8121-2BC1A085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478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C38"/>
                </a:solidFill>
              </a:defRPr>
            </a:pPr>
            <a:r>
              <a:rPr sz="2400" b="1">
                <a:solidFill>
                  <a:srgbClr val="102C38"/>
                </a:solidFill>
              </a:rPr>
              <a:t>80</a:t>
            </a:r>
          </a:p>
        </p:txBody>
      </p:sp>
      <p:sp>
        <p:nvSpPr>
          <p:cNvPr id="33" name="tools-label">
            <a:extLst xmlns:a="http://schemas.openxmlformats.org/drawingml/2006/main">
              <a:ext uri="{FF2B5EF4-FFF2-40B4-BE49-F238E27FC236}">
                <a16:creationId xmlns:a16="http://schemas.microsoft.com/office/drawing/2014/main" id="{1541CD33-6077-4EB8-95C0-34AFB377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241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deterministic tools</a:t>
            </a:r>
          </a:p>
        </p:txBody>
      </p:sp>
      <p:sp>
        <p:nvSpPr>
          <p:cNvPr id="34" name="claims-panel">
            <a:extLst xmlns:a="http://schemas.openxmlformats.org/drawingml/2006/main">
              <a:ext uri="{FF2B5EF4-FFF2-40B4-BE49-F238E27FC236}">
                <a16:creationId xmlns:a16="http://schemas.microsoft.com/office/drawing/2014/main" id="{29E56B70-10AF-475A-AED3-D35F4DBF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67050"/>
            <a:ext cx="46863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BECFC9"/>
            </a:solidFill>
            <a:prstDash val="solid"/>
          </a:ln>
        </p:spPr>
      </p:sp>
      <p:sp>
        <p:nvSpPr>
          <p:cNvPr id="35" name="claims-accent">
            <a:extLst xmlns:a="http://schemas.openxmlformats.org/drawingml/2006/main">
              <a:ext uri="{FF2B5EF4-FFF2-40B4-BE49-F238E27FC236}">
                <a16:creationId xmlns:a16="http://schemas.microsoft.com/office/drawing/2014/main" id="{12C31A75-D25B-4E1F-B198-421AE386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670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laims-value">
            <a:extLst xmlns:a="http://schemas.openxmlformats.org/drawingml/2006/main">
              <a:ext uri="{FF2B5EF4-FFF2-40B4-BE49-F238E27FC236}">
                <a16:creationId xmlns:a16="http://schemas.microsoft.com/office/drawing/2014/main" id="{59FA51C0-8FC5-44F2-BCC5-7E4CCA44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C38"/>
                </a:solidFill>
              </a:defRPr>
            </a:pPr>
            <a:r>
              <a:rPr sz="2400" b="1">
                <a:solidFill>
                  <a:srgbClr val="102C38"/>
                </a:solidFill>
              </a:rPr>
              <a:t>31/31</a:t>
            </a:r>
          </a:p>
        </p:txBody>
      </p:sp>
      <p:sp>
        <p:nvSpPr>
          <p:cNvPr id="37" name="claims-label">
            <a:extLst xmlns:a="http://schemas.openxmlformats.org/drawingml/2006/main">
              <a:ext uri="{FF2B5EF4-FFF2-40B4-BE49-F238E27FC236}">
                <a16:creationId xmlns:a16="http://schemas.microsoft.com/office/drawing/2014/main" id="{1D7F993F-7316-4071-BD53-7B9A3F0A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released claims approved by both critics</a:t>
            </a:r>
          </a:p>
        </p:txBody>
      </p:sp>
      <p:sp>
        <p:nvSpPr>
          <p:cNvPr id="38" name="followups-panel">
            <a:extLst xmlns:a="http://schemas.openxmlformats.org/drawingml/2006/main">
              <a:ext uri="{FF2B5EF4-FFF2-40B4-BE49-F238E27FC236}">
                <a16:creationId xmlns:a16="http://schemas.microsoft.com/office/drawing/2014/main" id="{CC4D545F-4BD4-44FA-B540-770DCBE0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38650"/>
            <a:ext cx="46863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BECFC9"/>
            </a:solidFill>
            <a:prstDash val="solid"/>
          </a:ln>
        </p:spPr>
      </p:sp>
      <p:sp>
        <p:nvSpPr>
          <p:cNvPr id="39" name="followups-accent">
            <a:extLst xmlns:a="http://schemas.openxmlformats.org/drawingml/2006/main">
              <a:ext uri="{FF2B5EF4-FFF2-40B4-BE49-F238E27FC236}">
                <a16:creationId xmlns:a16="http://schemas.microsoft.com/office/drawing/2014/main" id="{6E68995C-19E8-4633-8887-860FC98B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386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ollowups-value">
            <a:extLst xmlns:a="http://schemas.openxmlformats.org/drawingml/2006/main">
              <a:ext uri="{FF2B5EF4-FFF2-40B4-BE49-F238E27FC236}">
                <a16:creationId xmlns:a16="http://schemas.microsoft.com/office/drawing/2014/main" id="{B1D62675-B971-441E-B2D0-2A0DA3E9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9105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C38"/>
                </a:solidFill>
              </a:defRPr>
            </a:pPr>
            <a:r>
              <a:rPr sz="2400" b="1">
                <a:solidFill>
                  <a:srgbClr val="102C38"/>
                </a:solidFill>
              </a:rPr>
              <a:t>3/3</a:t>
            </a:r>
          </a:p>
        </p:txBody>
      </p:sp>
      <p:sp>
        <p:nvSpPr>
          <p:cNvPr id="41" name="followups-label">
            <a:extLst xmlns:a="http://schemas.openxmlformats.org/drawingml/2006/main">
              <a:ext uri="{FF2B5EF4-FFF2-40B4-BE49-F238E27FC236}">
                <a16:creationId xmlns:a16="http://schemas.microsoft.com/office/drawing/2014/main" id="{268BC7F2-ECE5-4921-B3D2-B9A7DEBE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673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governed follow-ups preserved scope and lineage</a:t>
            </a:r>
          </a:p>
        </p:txBody>
      </p:sp>
    </p:spTree>
    <p:extLst>
      <p:ext uri="{BB962C8B-B14F-4D97-AF65-F5344CB8AC3E}">
        <p14:creationId xmlns:p14="http://schemas.microsoft.com/office/powerpoint/2010/main" val="20841728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-5">
            <a:extLst xmlns:a="http://schemas.openxmlformats.org/drawingml/2006/main">
              <a:ext uri="{FF2B5EF4-FFF2-40B4-BE49-F238E27FC236}">
                <a16:creationId xmlns:a16="http://schemas.microsoft.com/office/drawing/2014/main" id="{8236187F-2965-4BFC-AF87-E3F1E1D1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C97936"/>
                </a:solidFill>
              </a:defRPr>
            </a:pPr>
            <a:r>
              <a:rPr sz="975" b="1">
                <a:solidFill>
                  <a:srgbClr val="C97936"/>
                </a:solidFill>
              </a:rPr>
              <a:t>RADEON OPTIMIZATION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5BF0081A-B4E6-4961-BD2D-124AF4F6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C38"/>
                </a:solidFill>
              </a:defRPr>
            </a:pPr>
            <a:r>
              <a:rPr sz="3000" b="1">
                <a:solidFill>
                  <a:srgbClr val="102C38"/>
                </a:solidFill>
              </a:rPr>
              <a:t>The complete journey became faster without weakening the gate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BA48D48E-8BED-40C5-ACC1-10FD9556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627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CF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DB9FF157-0432-4486-A1B0-4B844020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A7D80"/>
                </a:solidFill>
              </a:defRPr>
            </a:pPr>
            <a:r>
              <a:rPr sz="825" b="0">
                <a:solidFill>
                  <a:srgbClr val="6A7D80"/>
                </a:solidFill>
              </a:rPr>
              <a:t>SignalForge · AMD AI DevMaster Hackathon · Track 2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1302DB45-F9BE-4B34-AE99-664775C1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A7D80"/>
                </a:solidFill>
              </a:defRPr>
            </a:pPr>
            <a:r>
              <a:rPr sz="825" b="0">
                <a:solidFill>
                  <a:srgbClr val="6A7D80"/>
                </a:solidFill>
              </a:rPr>
              <a:t>05</a:t>
            </a:r>
          </a:p>
        </p:txBody>
      </p:sp>
      <p:sp>
        <p:nvSpPr>
          <p:cNvPr id="6" name="chart-surface">
            <a:extLst xmlns:a="http://schemas.openxmlformats.org/drawingml/2006/main">
              <a:ext uri="{FF2B5EF4-FFF2-40B4-BE49-F238E27FC236}">
                <a16:creationId xmlns:a16="http://schemas.microsoft.com/office/drawing/2014/main" id="{33ACE080-D454-4FB6-ABDB-D34F8C8C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7124700" cy="39433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BECFC9"/>
            </a:solidFill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1047750" y="2057400"/>
          <a:ext xmlns:a="http://schemas.openxmlformats.org/drawingml/2006/main" cx="641985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e4e8fc409a427f"/>
          </a:graphicData>
        </a:graphic>
      </p:graphicFrame>
      <p:sp>
        <p:nvSpPr>
          <p:cNvPr id="8" name="gain-panel">
            <a:extLst xmlns:a="http://schemas.openxmlformats.org/drawingml/2006/main">
              <a:ext uri="{FF2B5EF4-FFF2-40B4-BE49-F238E27FC236}">
                <a16:creationId xmlns:a16="http://schemas.microsoft.com/office/drawing/2014/main" id="{48E98405-53E3-4F00-A9A7-E1214A5E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19250"/>
            <a:ext cx="33147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74F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gain-value">
            <a:extLst xmlns:a="http://schemas.openxmlformats.org/drawingml/2006/main">
              <a:ext uri="{FF2B5EF4-FFF2-40B4-BE49-F238E27FC236}">
                <a16:creationId xmlns:a16="http://schemas.microsoft.com/office/drawing/2014/main" id="{6D7A0E6F-0E03-4630-B4A0-25A8F86C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2781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29.17%</a:t>
            </a:r>
          </a:p>
        </p:txBody>
      </p:sp>
      <p:sp>
        <p:nvSpPr>
          <p:cNvPr id="10" name="gain-label">
            <a:extLst xmlns:a="http://schemas.openxmlformats.org/drawingml/2006/main">
              <a:ext uri="{FF2B5EF4-FFF2-40B4-BE49-F238E27FC236}">
                <a16:creationId xmlns:a16="http://schemas.microsoft.com/office/drawing/2014/main" id="{3450FECA-C2F3-41FD-8B94-7E65BD7C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DCEAE4"/>
                </a:solidFill>
              </a:defRPr>
            </a:pPr>
            <a:r>
              <a:rPr sz="1425" b="0">
                <a:solidFill>
                  <a:srgbClr val="DCEAE4"/>
                </a:solidFill>
              </a:rPr>
              <a:t>faster end to end</a:t>
            </a:r>
          </a:p>
        </p:txBody>
      </p:sp>
      <p:sp>
        <p:nvSpPr>
          <p:cNvPr id="11" name="quality-panel">
            <a:extLst xmlns:a="http://schemas.openxmlformats.org/drawingml/2006/main">
              <a:ext uri="{FF2B5EF4-FFF2-40B4-BE49-F238E27FC236}">
                <a16:creationId xmlns:a16="http://schemas.microsoft.com/office/drawing/2014/main" id="{AED4AA26-47C1-40DE-ADE7-A3CD946C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19500"/>
            <a:ext cx="33147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6E5CC"/>
          </a:solidFill>
          <a:ln xmlns:a="http://schemas.openxmlformats.org/drawingml/2006/main" w="11430">
            <a:solidFill>
              <a:srgbClr val="C97936"/>
            </a:solidFill>
            <a:prstDash val="solid"/>
          </a:ln>
        </p:spPr>
      </p:sp>
      <p:sp>
        <p:nvSpPr>
          <p:cNvPr id="12" name="quality-value">
            <a:extLst xmlns:a="http://schemas.openxmlformats.org/drawingml/2006/main">
              <a:ext uri="{FF2B5EF4-FFF2-40B4-BE49-F238E27FC236}">
                <a16:creationId xmlns:a16="http://schemas.microsoft.com/office/drawing/2014/main" id="{CD3EACF3-2C24-4ABB-9064-CBEBBE65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052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102C38"/>
                </a:solidFill>
              </a:defRPr>
            </a:pPr>
            <a:r>
              <a:rPr sz="2850" b="1">
                <a:solidFill>
                  <a:srgbClr val="102C38"/>
                </a:solidFill>
              </a:rPr>
              <a:t>44 / 44</a:t>
            </a:r>
          </a:p>
        </p:txBody>
      </p:sp>
      <p:sp>
        <p:nvSpPr>
          <p:cNvPr id="13" name="quality-label">
            <a:extLst xmlns:a="http://schemas.openxmlformats.org/drawingml/2006/main">
              <a:ext uri="{FF2B5EF4-FFF2-40B4-BE49-F238E27FC236}">
                <a16:creationId xmlns:a16="http://schemas.microsoft.com/office/drawing/2014/main" id="{1A15CDB9-B464-42A9-B0EC-A9FAB9E2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3390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334B52"/>
                </a:solidFill>
              </a:defRPr>
            </a:pPr>
            <a:r>
              <a:rPr sz="1350" b="0">
                <a:solidFill>
                  <a:srgbClr val="334B52"/>
                </a:solidFill>
              </a:rPr>
              <a:t>frozen semantic checks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334B52"/>
                </a:solidFill>
              </a:defRPr>
            </a:pPr>
            <a:r>
              <a:rPr sz="1350" b="0">
                <a:solidFill>
                  <a:srgbClr val="334B52"/>
                </a:solidFill>
              </a:rPr>
              <a:t>passed by both profiles</a:t>
            </a:r>
          </a:p>
        </p:txBody>
      </p:sp>
      <p:sp>
        <p:nvSpPr>
          <p:cNvPr id="14" name="optimization-note">
            <a:extLst xmlns:a="http://schemas.openxmlformats.org/drawingml/2006/main">
              <a:ext uri="{FF2B5EF4-FFF2-40B4-BE49-F238E27FC236}">
                <a16:creationId xmlns:a16="http://schemas.microsoft.com/office/drawing/2014/main" id="{EAE59331-C885-4ACD-9551-B19AAD01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769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F756E"/>
                </a:solidFill>
              </a:defRPr>
            </a:pPr>
            <a:r>
              <a:rPr sz="1125" b="1">
                <a:solidFill>
                  <a:srgbClr val="3F756E"/>
                </a:solidFill>
              </a:rPr>
              <a:t>Unified F16 KV also restored 32,768-token request capacity: 70/80 → 80/80 contract observations.</a:t>
            </a:r>
          </a:p>
        </p:txBody>
      </p:sp>
      <p:sp>
        <p:nvSpPr>
          <p:cNvPr id="15" name="optimization-source">
            <a:extLst xmlns:a="http://schemas.openxmlformats.org/drawingml/2006/main">
              <a:ext uri="{FF2B5EF4-FFF2-40B4-BE49-F238E27FC236}">
                <a16:creationId xmlns:a16="http://schemas.microsoft.com/office/drawing/2014/main" id="{E1494108-93A4-4571-8953-5836AB6E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60769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A7D80"/>
                </a:solidFill>
              </a:defRPr>
            </a:pPr>
            <a:r>
              <a:rPr sz="750" b="0">
                <a:solidFill>
                  <a:srgbClr val="6A7D80"/>
                </a:solidFill>
              </a:rPr>
              <a:t>Source: evidence/radeon-optimization.json</a:t>
            </a:r>
          </a:p>
        </p:txBody>
      </p:sp>
    </p:spTree>
    <p:extLst>
      <p:ext uri="{BB962C8B-B14F-4D97-AF65-F5344CB8AC3E}">
        <p14:creationId xmlns:p14="http://schemas.microsoft.com/office/powerpoint/2010/main" val="2370642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C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B81CB920-1CCE-40FF-861A-151E6E58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0B35E"/>
                </a:solidFill>
              </a:defRPr>
            </a:pPr>
            <a:r>
              <a:rPr sz="975" b="1">
                <a:solidFill>
                  <a:srgbClr val="F0B35E"/>
                </a:solidFill>
              </a:rPr>
              <a:t>RELEASE DISCIPLINE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E5D49261-F11A-48B3-89F9-51D17B8F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858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Built to fail closed,</a:t>
            </a:r>
          </a:p>
          <a:p xmlns:a="http://schemas.openxmlformats.org/drawingml/2006/main">
            <a:pPr algn="l">
              <a:buNone/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not confidently wrong</a:t>
            </a:r>
          </a:p>
        </p:txBody>
      </p:sp>
      <p:sp>
        <p:nvSpPr>
          <p:cNvPr id="3" name="hard-cases-panel">
            <a:extLst xmlns:a="http://schemas.openxmlformats.org/drawingml/2006/main">
              <a:ext uri="{FF2B5EF4-FFF2-40B4-BE49-F238E27FC236}">
                <a16:creationId xmlns:a16="http://schemas.microsoft.com/office/drawing/2014/main" id="{831638EC-2F9A-4E65-9422-83C71699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152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BECFC9"/>
            </a:solidFill>
            <a:prstDash val="solid"/>
          </a:ln>
        </p:spPr>
      </p:sp>
      <p:sp>
        <p:nvSpPr>
          <p:cNvPr id="4" name="hard-cases-accent">
            <a:extLst xmlns:a="http://schemas.openxmlformats.org/drawingml/2006/main">
              <a:ext uri="{FF2B5EF4-FFF2-40B4-BE49-F238E27FC236}">
                <a16:creationId xmlns:a16="http://schemas.microsoft.com/office/drawing/2014/main" id="{71526B69-8C4D-452B-9B91-D6910A09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ard-cases-value">
            <a:extLst xmlns:a="http://schemas.openxmlformats.org/drawingml/2006/main">
              <a:ext uri="{FF2B5EF4-FFF2-40B4-BE49-F238E27FC236}">
                <a16:creationId xmlns:a16="http://schemas.microsoft.com/office/drawing/2014/main" id="{B25276EF-4813-468F-9790-39F106F5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C38"/>
                </a:solidFill>
              </a:defRPr>
            </a:pPr>
            <a:r>
              <a:rPr sz="2400" b="1">
                <a:solidFill>
                  <a:srgbClr val="102C38"/>
                </a:solidFill>
              </a:rPr>
              <a:t>26</a:t>
            </a:r>
          </a:p>
        </p:txBody>
      </p:sp>
      <p:sp>
        <p:nvSpPr>
          <p:cNvPr id="6" name="hard-cases-label">
            <a:extLst xmlns:a="http://schemas.openxmlformats.org/drawingml/2006/main">
              <a:ext uri="{FF2B5EF4-FFF2-40B4-BE49-F238E27FC236}">
                <a16:creationId xmlns:a16="http://schemas.microsoft.com/office/drawing/2014/main" id="{76DAF8B0-3524-4745-8CD3-CEE51397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adversarial cases</a:t>
            </a:r>
          </a:p>
        </p:txBody>
      </p:sp>
      <p:sp>
        <p:nvSpPr>
          <p:cNvPr id="7" name="hard-gates-panel">
            <a:extLst xmlns:a="http://schemas.openxmlformats.org/drawingml/2006/main">
              <a:ext uri="{FF2B5EF4-FFF2-40B4-BE49-F238E27FC236}">
                <a16:creationId xmlns:a16="http://schemas.microsoft.com/office/drawing/2014/main" id="{B59EB56D-3E1E-4FC7-966A-5E61A923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24150"/>
            <a:ext cx="2152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BECFC9"/>
            </a:solidFill>
            <a:prstDash val="solid"/>
          </a:ln>
        </p:spPr>
      </p:sp>
      <p:sp>
        <p:nvSpPr>
          <p:cNvPr id="8" name="hard-gates-accent">
            <a:extLst xmlns:a="http://schemas.openxmlformats.org/drawingml/2006/main">
              <a:ext uri="{FF2B5EF4-FFF2-40B4-BE49-F238E27FC236}">
                <a16:creationId xmlns:a16="http://schemas.microsoft.com/office/drawing/2014/main" id="{80731452-B027-4C9B-BFDE-61D010C0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241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hard-gates-value">
            <a:extLst xmlns:a="http://schemas.openxmlformats.org/drawingml/2006/main">
              <a:ext uri="{FF2B5EF4-FFF2-40B4-BE49-F238E27FC236}">
                <a16:creationId xmlns:a16="http://schemas.microsoft.com/office/drawing/2014/main" id="{6B3AD3D9-E281-4B72-B114-08172D46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76550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C38"/>
                </a:solidFill>
              </a:defRPr>
            </a:pPr>
            <a:r>
              <a:rPr sz="2400" b="1">
                <a:solidFill>
                  <a:srgbClr val="102C38"/>
                </a:solidFill>
              </a:rPr>
              <a:t>11</a:t>
            </a:r>
          </a:p>
        </p:txBody>
      </p:sp>
      <p:sp>
        <p:nvSpPr>
          <p:cNvPr id="10" name="hard-gates-label">
            <a:extLst xmlns:a="http://schemas.openxmlformats.org/drawingml/2006/main">
              <a:ext uri="{FF2B5EF4-FFF2-40B4-BE49-F238E27FC236}">
                <a16:creationId xmlns:a16="http://schemas.microsoft.com/office/drawing/2014/main" id="{0302EF71-FBF8-4675-A743-F3141E5A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352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executable gates</a:t>
            </a:r>
          </a:p>
        </p:txBody>
      </p:sp>
      <p:sp>
        <p:nvSpPr>
          <p:cNvPr id="11" name="hard-critical-panel">
            <a:extLst xmlns:a="http://schemas.openxmlformats.org/drawingml/2006/main">
              <a:ext uri="{FF2B5EF4-FFF2-40B4-BE49-F238E27FC236}">
                <a16:creationId xmlns:a16="http://schemas.microsoft.com/office/drawing/2014/main" id="{F25D551F-CE0D-4B2D-B47A-5761941A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24150"/>
            <a:ext cx="21526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BECFC9"/>
            </a:solidFill>
            <a:prstDash val="solid"/>
          </a:ln>
        </p:spPr>
      </p:sp>
      <p:sp>
        <p:nvSpPr>
          <p:cNvPr id="12" name="hard-critical-accent">
            <a:extLst xmlns:a="http://schemas.openxmlformats.org/drawingml/2006/main">
              <a:ext uri="{FF2B5EF4-FFF2-40B4-BE49-F238E27FC236}">
                <a16:creationId xmlns:a16="http://schemas.microsoft.com/office/drawing/2014/main" id="{82B5C7D2-F3CF-4F2C-B7D2-6DB3F41D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7241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79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hard-critical-value">
            <a:extLst xmlns:a="http://schemas.openxmlformats.org/drawingml/2006/main">
              <a:ext uri="{FF2B5EF4-FFF2-40B4-BE49-F238E27FC236}">
                <a16:creationId xmlns:a16="http://schemas.microsoft.com/office/drawing/2014/main" id="{8D0095A3-9F12-47BF-98AE-AD209015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76550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C38"/>
                </a:solidFill>
              </a:defRPr>
            </a:pPr>
            <a:r>
              <a:rPr sz="2400" b="1">
                <a:solidFill>
                  <a:srgbClr val="102C38"/>
                </a:solidFill>
              </a:rPr>
              <a:t>22</a:t>
            </a:r>
          </a:p>
        </p:txBody>
      </p:sp>
      <p:sp>
        <p:nvSpPr>
          <p:cNvPr id="14" name="hard-critical-label">
            <a:extLst xmlns:a="http://schemas.openxmlformats.org/drawingml/2006/main">
              <a:ext uri="{FF2B5EF4-FFF2-40B4-BE49-F238E27FC236}">
                <a16:creationId xmlns:a16="http://schemas.microsoft.com/office/drawing/2014/main" id="{AADAE167-9A59-4B92-A1D7-CA6BA68B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52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critical threats</a:t>
            </a:r>
          </a:p>
        </p:txBody>
      </p:sp>
      <p:sp>
        <p:nvSpPr>
          <p:cNvPr id="15" name="hard-blockers-panel">
            <a:extLst xmlns:a="http://schemas.openxmlformats.org/drawingml/2006/main">
              <a:ext uri="{FF2B5EF4-FFF2-40B4-BE49-F238E27FC236}">
                <a16:creationId xmlns:a16="http://schemas.microsoft.com/office/drawing/2014/main" id="{AA4E53A0-3B27-4A99-BCEB-32C940BC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24150"/>
            <a:ext cx="26479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DF7"/>
          </a:solidFill>
          <a:ln xmlns:a="http://schemas.openxmlformats.org/drawingml/2006/main" w="11430">
            <a:solidFill>
              <a:srgbClr val="BECFC9"/>
            </a:solidFill>
            <a:prstDash val="solid"/>
          </a:ln>
        </p:spPr>
      </p:sp>
      <p:sp>
        <p:nvSpPr>
          <p:cNvPr id="16" name="hard-blockers-accent">
            <a:extLst xmlns:a="http://schemas.openxmlformats.org/drawingml/2006/main">
              <a:ext uri="{FF2B5EF4-FFF2-40B4-BE49-F238E27FC236}">
                <a16:creationId xmlns:a16="http://schemas.microsoft.com/office/drawing/2014/main" id="{76D0063A-4835-42FC-B191-F20E3C96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2415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5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ard-blockers-value">
            <a:extLst xmlns:a="http://schemas.openxmlformats.org/drawingml/2006/main">
              <a:ext uri="{FF2B5EF4-FFF2-40B4-BE49-F238E27FC236}">
                <a16:creationId xmlns:a16="http://schemas.microsoft.com/office/drawing/2014/main" id="{74B0EE69-9586-48A0-ADF2-6EA5C51D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7655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2C38"/>
                </a:solidFill>
              </a:defRPr>
            </a:pPr>
            <a:r>
              <a:rPr sz="2400" b="1">
                <a:solidFill>
                  <a:srgbClr val="102C38"/>
                </a:solidFill>
              </a:rPr>
              <a:t>0</a:t>
            </a:r>
          </a:p>
        </p:txBody>
      </p:sp>
      <p:sp>
        <p:nvSpPr>
          <p:cNvPr id="18" name="hard-blockers-label">
            <a:extLst xmlns:a="http://schemas.openxmlformats.org/drawingml/2006/main">
              <a:ext uri="{FF2B5EF4-FFF2-40B4-BE49-F238E27FC236}">
                <a16:creationId xmlns:a16="http://schemas.microsoft.com/office/drawing/2014/main" id="{A4CA4312-EBFA-4014-A00F-8543BB02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528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A7D80"/>
                </a:solidFill>
              </a:defRPr>
            </a:pPr>
            <a:r>
              <a:rPr sz="1125" b="0">
                <a:solidFill>
                  <a:srgbClr val="6A7D80"/>
                </a:solidFill>
              </a:rPr>
              <a:t>current release blockers</a:t>
            </a:r>
          </a:p>
        </p:txBody>
      </p:sp>
      <p:sp>
        <p:nvSpPr>
          <p:cNvPr id="19" name="close-proof">
            <a:extLst xmlns:a="http://schemas.openxmlformats.org/drawingml/2006/main">
              <a:ext uri="{FF2B5EF4-FFF2-40B4-BE49-F238E27FC236}">
                <a16:creationId xmlns:a16="http://schemas.microsoft.com/office/drawing/2014/main" id="{27577B36-8412-4B45-98D2-2B8DECFD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DCEAE4"/>
                </a:solidFill>
              </a:defRPr>
            </a:pPr>
            <a:r>
              <a:rPr sz="1500" b="1">
                <a:solidFill>
                  <a:srgbClr val="DCEAE4"/>
                </a:solidFill>
              </a:rPr>
              <a:t>Primary evidence · deterministic receipts · independent review · explicit residual risk</a:t>
            </a:r>
          </a:p>
        </p:txBody>
      </p:sp>
      <p:sp>
        <p:nvSpPr>
          <p:cNvPr id="20" name="close-limits">
            <a:extLst xmlns:a="http://schemas.openxmlformats.org/drawingml/2006/main">
              <a:ext uri="{FF2B5EF4-FFF2-40B4-BE49-F238E27FC236}">
                <a16:creationId xmlns:a16="http://schemas.microsoft.com/office/drawing/2014/main" id="{A9F1A21F-0C47-4A5E-B573-FC2DB882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FD6D0"/>
                </a:solidFill>
              </a:defRPr>
            </a:pPr>
            <a:r>
              <a:rPr sz="1275" b="0">
                <a:solidFill>
                  <a:srgbClr val="BFD6D0"/>
                </a:solidFill>
              </a:rPr>
              <a:t>Bounded to Microsoft and NVIDIA. External human-ground-truth accuracy remains unscored. Novel injection and plausible upstream data errors still require review.</a:t>
            </a:r>
          </a:p>
        </p:txBody>
      </p:sp>
      <p:sp>
        <p:nvSpPr>
          <p:cNvPr id="21" name="close-link">
            <a:extLst xmlns:a="http://schemas.openxmlformats.org/drawingml/2006/main">
              <a:ext uri="{FF2B5EF4-FFF2-40B4-BE49-F238E27FC236}">
                <a16:creationId xmlns:a16="http://schemas.microsoft.com/office/drawing/2014/main" id="{9DBE2C71-039A-4AFE-9403-2F448080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5810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0B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lose-link-text">
            <a:extLst xmlns:a="http://schemas.openxmlformats.org/drawingml/2006/main">
              <a:ext uri="{FF2B5EF4-FFF2-40B4-BE49-F238E27FC236}">
                <a16:creationId xmlns:a16="http://schemas.microsoft.com/office/drawing/2014/main" id="{BEE0283B-5644-41FC-8849-37AE3101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436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02C38"/>
                </a:solidFill>
              </a:defRPr>
            </a:pPr>
            <a:r>
              <a:rPr sz="1425" b="1">
                <a:solidFill>
                  <a:srgbClr val="102C38"/>
                </a:solidFill>
              </a:rPr>
              <a:t>github.com/rvbernucci/signalforge</a:t>
            </a:r>
          </a:p>
        </p:txBody>
      </p:sp>
      <p:sp>
        <p:nvSpPr>
          <p:cNvPr id="23" name="close-line">
            <a:extLst xmlns:a="http://schemas.openxmlformats.org/drawingml/2006/main">
              <a:ext uri="{FF2B5EF4-FFF2-40B4-BE49-F238E27FC236}">
                <a16:creationId xmlns:a16="http://schemas.microsoft.com/office/drawing/2014/main" id="{C50D96A0-BD1A-401B-97E7-6AE96D57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810250"/>
            <a:ext cx="4514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 private, inspectable research process on AMD Radeon and ROCm.</a:t>
            </a:r>
          </a:p>
        </p:txBody>
      </p:sp>
    </p:spTree>
    <p:extLst>
      <p:ext uri="{BB962C8B-B14F-4D97-AF65-F5344CB8AC3E}">
        <p14:creationId xmlns:p14="http://schemas.microsoft.com/office/powerpoint/2010/main" val="7287843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2026-07-27T13:23:20.4510000Z</dcterms:created>
  <dcterms:modified xsi:type="dcterms:W3CDTF">2026-07-27T13:23:20.4510000Z</dcterms:modified>
</coreProperties>
</file>